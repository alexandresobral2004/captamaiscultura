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são geral" id="{27b5663a-cb3d-2b6f-9e33-4fa040604a46}">
          <p14:sldIdLst>
            <p14:sldId id="256"/>
            <p14:sldId id="257"/>
            <p14:sldId id="258"/>
            <p14:sldId id="259"/>
            <p14:sldId id="260"/>
          </p14:sldIdLst>
        </p14:section>
        <p14:section name="Onde pode travar" id="{8ac4ce2a-d12f-3ffa-8809-0bed02b118fa}">
          <p14:sldIdLst>
            <p14:sldId id="261"/>
            <p14:sldId id="262"/>
            <p14:sldId id="263"/>
            <p14:sldId id="264"/>
          </p14:sldIdLst>
        </p14:section>
        <p14:section name="Arquitetura para escala" id="{cdb7e90f-e3b7-8ef8-fc2e-41ac25e1d6e3}">
          <p14:sldIdLst>
            <p14:sldId id="265"/>
            <p14:sldId id="266"/>
            <p14:sldId id="267"/>
          </p14:sldIdLst>
        </p14:section>
        <p14:section name="Próximos passos" id="{9535dee2-abf9-85a4-a012-9af6ecd44f2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para quem não participou do desenvolvimento: mostra o que existe hoje em produção, onde ele pode travar e qual arquitetura seguir em projetos futuros.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de 20 e 21 de outubro de 2026. O sistema reúne editais de vários portais, filtra os relevantes, lê os PDFs e ajuda a escrever o projeto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caixa verde é o processo único que hoje faz tudo: atende as telas, roda a varredura semanal e gera os textos. As duas caixas tracejadas em laranja são os pontos que impedem ter mais de uma instância. À direita ficam os serviços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geração do projeto foi atualizada nesta semana: usa o gpt-5.6-luna, assume a persona do nicho do usuário, escreve em português com a norma culta, não resume os pontos, justifica o texto e exige referências quando há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é o que permite melhorar sem reescrever: a estrutura já separa responsabilidades e os testes protegem as mudanças.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itens 1 e 2 são os mais urgentes: o 2 pode travar a varredura de vez, e o 1 afeta quem está usando o sistema durante uma varredura.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6 a 10 não derrubam o sistema hoje, mas aumentam o custo e o risco conforme o uso cresce.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prazos são estimativas de esforço, não compromissos. A fase 1 é barata e já elimina os riscos mais imediatos.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passo A e a correção do job preso são pequenos e não exigem migração de banco: as colunas já existem. O passo B exige um serviço novo no Railway e levar o progresso para 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Leitura: o usuário fala só com a camada web, que não guarda estado e pode ter várias cópias. Tudo o que é pesado vira um job na fila, e os workers executam. Arquivos ficam no armazenamento de objetos, e toda chamada à IA passa por um limitador. A faixa escura mostra que observabilidade vale para todas as peças.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seis princípios valem para qualquer sistema novo da equipe que dependa de varreduras, IA ou geração de documentos. Começar com eles custa pouco; incluir depois custa uma reescrita.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dessas faixas foi medida. O primeiro passo da fase 1 deveria incluir um teste de carga simples para trocar a estimativa por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itens 1 a 3 cabem em cerca de uma semana. O item 4 transforma as faixas estimadas em números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EI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</a:rPr>
              <a:t>CAPTA+ CULTURA · EM PRODUÇÃO</a:t>
            </a:r>
            <a:endParaRPr lang="en-US" sz="16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192024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Como o Capta+ está organizado e como fazê-lo crescer sem travar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46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Arquitetura atual, pontos de atenção e modelo para larga escala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Outubro de 2026</a:t>
            </a:r>
            <a:endParaRPr lang="en-US" sz="16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O Capta+ hoje, em produção</a:t>
            </a:r>
            <a:endParaRPr lang="en-US" sz="3400" dirty="0"/>
          </a:p>
        </p:txBody>
      </p:sp>
      <p:sp>
        <p:nvSpPr>
          <p:cNvPr id="3" name="Cartão 1"/>
          <p:cNvSpPr/>
          <p:nvPr/>
        </p:nvSpPr>
        <p:spPr>
          <a:xfrm>
            <a:off x="640080" y="164592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211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004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editais no banco de dados</a:t>
            </a:r>
            <a:endParaRPr lang="en-US" sz="1800" dirty="0"/>
          </a:p>
        </p:txBody>
      </p:sp>
      <p:sp>
        <p:nvSpPr>
          <p:cNvPr id="6" name="Cartão 2"/>
          <p:cNvSpPr/>
          <p:nvPr/>
        </p:nvSpPr>
        <p:spPr>
          <a:xfrm>
            <a:off x="3337560" y="164592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828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2004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portais: Prosas, FINEP, CNPq, CAPES e MCTI</a:t>
            </a:r>
            <a:endParaRPr lang="en-US" sz="1800" dirty="0"/>
          </a:p>
        </p:txBody>
      </p:sp>
      <p:sp>
        <p:nvSpPr>
          <p:cNvPr id="9" name="Cartão 3"/>
          <p:cNvSpPr/>
          <p:nvPr/>
        </p:nvSpPr>
        <p:spPr>
          <a:xfrm>
            <a:off x="6035040" y="164592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828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2004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etapas: busca, triagem, análise e geração</a:t>
            </a:r>
            <a:endParaRPr lang="en-US" sz="1800" dirty="0"/>
          </a:p>
        </p:txBody>
      </p:sp>
      <p:sp>
        <p:nvSpPr>
          <p:cNvPr id="12" name="Cartão 4"/>
          <p:cNvSpPr/>
          <p:nvPr/>
        </p:nvSpPr>
        <p:spPr>
          <a:xfrm>
            <a:off x="8732520" y="164592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1828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405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32004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testes automatizados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46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Next.js 14 e PostgreSQL no Railway, com Drizzle ORM, OpenAI e Jev (TypeSafe) para a inteligência. No ar desde outubro de 2026.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Como está organizado hoje</a:t>
            </a:r>
            <a:endParaRPr lang="en-US" sz="3400" dirty="0"/>
          </a:p>
        </p:txBody>
      </p:sp>
      <p:sp>
        <p:nvSpPr>
          <p:cNvPr id="3" name="Usuários"/>
          <p:cNvSpPr txBox="1"/>
          <p:nvPr/>
        </p:nvSpPr>
        <p:spPr>
          <a:xfrm>
            <a:off x="777240" y="3314700"/>
            <a:ext cx="1388059" cy="1135685"/>
          </a:xfrm>
          <a:prstGeom prst="roundRect">
            <a:avLst>
              <a:gd name="adj" fmla="val 6441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Usuários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admin, editor e leitor</a:t>
            </a:r>
            <a:endParaRPr lang="en-US" sz="1500" dirty="0"/>
          </a:p>
        </p:txBody>
      </p:sp>
      <p:sp>
        <p:nvSpPr>
          <p:cNvPr id="4" name="Processo Next.js"/>
          <p:cNvSpPr/>
          <p:nvPr/>
        </p:nvSpPr>
        <p:spPr>
          <a:xfrm>
            <a:off x="2543861" y="1737360"/>
            <a:ext cx="5804611" cy="4416552"/>
          </a:xfrm>
          <a:prstGeom prst="roundRect">
            <a:avLst>
              <a:gd name="adj" fmla="val 310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5760" y="1850928"/>
            <a:ext cx="54008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Um único processo Next.js no Railway</a:t>
            </a:r>
            <a:endParaRPr lang="en-US" sz="1600" dirty="0"/>
          </a:p>
        </p:txBody>
      </p:sp>
      <p:sp>
        <p:nvSpPr>
          <p:cNvPr id="6" name="Telas"/>
          <p:cNvSpPr txBox="1"/>
          <p:nvPr/>
        </p:nvSpPr>
        <p:spPr>
          <a:xfrm>
            <a:off x="2745760" y="2267346"/>
            <a:ext cx="1665671" cy="1110447"/>
          </a:xfrm>
          <a:prstGeom prst="roundRect">
            <a:avLst>
              <a:gd name="adj" fmla="val 6588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Telas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React e editor de texto rico</a:t>
            </a:r>
            <a:endParaRPr lang="en-US" sz="1500" dirty="0"/>
          </a:p>
        </p:txBody>
      </p:sp>
      <p:sp>
        <p:nvSpPr>
          <p:cNvPr id="7" name="API v1"/>
          <p:cNvSpPr txBox="1"/>
          <p:nvPr/>
        </p:nvSpPr>
        <p:spPr>
          <a:xfrm>
            <a:off x="4613331" y="2267346"/>
            <a:ext cx="1665671" cy="1110447"/>
          </a:xfrm>
          <a:prstGeom prst="roundRect">
            <a:avLst>
              <a:gd name="adj" fmla="val 6588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API v1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middleware, sessão e token</a:t>
            </a:r>
            <a:endParaRPr lang="en-US" sz="1500" dirty="0"/>
          </a:p>
        </p:txBody>
      </p:sp>
      <p:sp>
        <p:nvSpPr>
          <p:cNvPr id="8" name="Geração"/>
          <p:cNvSpPr txBox="1"/>
          <p:nvPr/>
        </p:nvSpPr>
        <p:spPr>
          <a:xfrm>
            <a:off x="6480901" y="2267346"/>
            <a:ext cx="1665671" cy="1110447"/>
          </a:xfrm>
          <a:prstGeom prst="roundRect">
            <a:avLst>
              <a:gd name="adj" fmla="val 6588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Geração de projetos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texto por seção</a:t>
            </a:r>
            <a:endParaRPr lang="en-US" sz="1500" dirty="0"/>
          </a:p>
        </p:txBody>
      </p:sp>
      <p:sp>
        <p:nvSpPr>
          <p:cNvPr id="9" name="Varredura"/>
          <p:cNvSpPr txBox="1"/>
          <p:nvPr/>
        </p:nvSpPr>
        <p:spPr>
          <a:xfrm>
            <a:off x="2745760" y="3579693"/>
            <a:ext cx="1665671" cy="1110447"/>
          </a:xfrm>
          <a:prstGeom prst="roundRect">
            <a:avLst>
              <a:gd name="adj" fmla="val 6588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Varredura semanal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JobRunner</a:t>
            </a:r>
            <a:endParaRPr lang="en-US" sz="1500" dirty="0"/>
          </a:p>
        </p:txBody>
      </p:sp>
      <p:sp>
        <p:nvSpPr>
          <p:cNvPr id="10" name="Triagem"/>
          <p:cNvSpPr txBox="1"/>
          <p:nvPr/>
        </p:nvSpPr>
        <p:spPr>
          <a:xfrm>
            <a:off x="4613331" y="3579693"/>
            <a:ext cx="1665671" cy="1110447"/>
          </a:xfrm>
          <a:prstGeom prst="roundRect">
            <a:avLst>
              <a:gd name="adj" fmla="val 6588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Triagem e análise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filtros, PDFs e RAG</a:t>
            </a:r>
            <a:endParaRPr lang="en-US" sz="1500" dirty="0"/>
          </a:p>
        </p:txBody>
      </p:sp>
      <p:sp>
        <p:nvSpPr>
          <p:cNvPr id="11" name="Exportação"/>
          <p:cNvSpPr txBox="1"/>
          <p:nvPr/>
        </p:nvSpPr>
        <p:spPr>
          <a:xfrm>
            <a:off x="6480901" y="3579693"/>
            <a:ext cx="1665671" cy="1110447"/>
          </a:xfrm>
          <a:prstGeom prst="roundRect">
            <a:avLst>
              <a:gd name="adj" fmla="val 6588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Exportação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PDF e DOCX</a:t>
            </a:r>
            <a:endParaRPr lang="en-US" sz="1500" dirty="0"/>
          </a:p>
        </p:txBody>
      </p:sp>
      <p:sp>
        <p:nvSpPr>
          <p:cNvPr id="12" name="Atenção memória"/>
          <p:cNvSpPr txBox="1"/>
          <p:nvPr/>
        </p:nvSpPr>
        <p:spPr>
          <a:xfrm>
            <a:off x="2745760" y="4892040"/>
            <a:ext cx="2523744" cy="1009498"/>
          </a:xfrm>
          <a:prstGeom prst="roundRect">
            <a:avLst>
              <a:gd name="adj" fmla="val 7246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dash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Atenção: estado na memória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progresso, logs ao vivo e caches</a:t>
            </a:r>
            <a:endParaRPr lang="en-US" sz="1500" dirty="0"/>
          </a:p>
        </p:txBody>
      </p:sp>
      <p:sp>
        <p:nvSpPr>
          <p:cNvPr id="13" name="Atenção disco"/>
          <p:cNvSpPr txBox="1"/>
          <p:nvPr/>
        </p:nvSpPr>
        <p:spPr>
          <a:xfrm>
            <a:off x="5622828" y="4892040"/>
            <a:ext cx="2523744" cy="1009498"/>
          </a:xfrm>
          <a:prstGeom prst="roundRect">
            <a:avLst>
              <a:gd name="adj" fmla="val 7246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dash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Atenção: disco local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PDFs em data/downloads</a:t>
            </a:r>
            <a:endParaRPr lang="en-US" sz="1500" dirty="0"/>
          </a:p>
        </p:txBody>
      </p:sp>
      <p:sp>
        <p:nvSpPr>
          <p:cNvPr id="14" name="PostgreSQL"/>
          <p:cNvSpPr txBox="1"/>
          <p:nvPr/>
        </p:nvSpPr>
        <p:spPr>
          <a:xfrm>
            <a:off x="8727034" y="1863547"/>
            <a:ext cx="2548981" cy="820217"/>
          </a:xfrm>
          <a:prstGeom prst="roundRect">
            <a:avLst>
              <a:gd name="adj" fmla="val 8919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banco no Railway</a:t>
            </a:r>
            <a:endParaRPr lang="en-US" sz="1500" dirty="0"/>
          </a:p>
        </p:txBody>
      </p:sp>
      <p:sp>
        <p:nvSpPr>
          <p:cNvPr id="15" name="Portais"/>
          <p:cNvSpPr txBox="1"/>
          <p:nvPr/>
        </p:nvSpPr>
        <p:spPr>
          <a:xfrm>
            <a:off x="8727034" y="2936138"/>
            <a:ext cx="2548981" cy="820217"/>
          </a:xfrm>
          <a:prstGeom prst="roundRect">
            <a:avLst>
              <a:gd name="adj" fmla="val 8919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Portais de editais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Prosas, FINEP, CNPq, CAPES, MCTI</a:t>
            </a:r>
            <a:endParaRPr lang="en-US" sz="1500" dirty="0"/>
          </a:p>
        </p:txBody>
      </p:sp>
      <p:sp>
        <p:nvSpPr>
          <p:cNvPr id="16" name="OpenAI"/>
          <p:cNvSpPr txBox="1"/>
          <p:nvPr/>
        </p:nvSpPr>
        <p:spPr>
          <a:xfrm>
            <a:off x="8727034" y="4008730"/>
            <a:ext cx="2548981" cy="820217"/>
          </a:xfrm>
          <a:prstGeom prst="roundRect">
            <a:avLst>
              <a:gd name="adj" fmla="val 8919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OpenAI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gpt-4o, gpt-4o-mini, gpt-5.6-luna</a:t>
            </a:r>
            <a:endParaRPr lang="en-US" sz="1500" dirty="0"/>
          </a:p>
        </p:txBody>
      </p:sp>
      <p:sp>
        <p:nvSpPr>
          <p:cNvPr id="17" name="Jev"/>
          <p:cNvSpPr txBox="1"/>
          <p:nvPr/>
        </p:nvSpPr>
        <p:spPr>
          <a:xfrm>
            <a:off x="8727034" y="5081321"/>
            <a:ext cx="2548981" cy="820217"/>
          </a:xfrm>
          <a:prstGeom prst="roundRect">
            <a:avLst>
              <a:gd name="adj" fmla="val 8919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Jev (TypeSafe)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triagem rápida por eixo</a:t>
            </a:r>
            <a:endParaRPr lang="en-US" sz="1500" dirty="0"/>
          </a:p>
        </p:txBody>
      </p:sp>
      <p:sp>
        <p:nvSpPr>
          <p:cNvPr id="18" name="Seta"/>
          <p:cNvSpPr/>
          <p:nvPr/>
        </p:nvSpPr>
        <p:spPr>
          <a:xfrm>
            <a:off x="2190537" y="3882542"/>
            <a:ext cx="328087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eta"/>
          <p:cNvSpPr/>
          <p:nvPr/>
        </p:nvSpPr>
        <p:spPr>
          <a:xfrm>
            <a:off x="8373709" y="2273656"/>
            <a:ext cx="328087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0" name="Seta"/>
          <p:cNvSpPr/>
          <p:nvPr/>
        </p:nvSpPr>
        <p:spPr>
          <a:xfrm>
            <a:off x="8373709" y="3346247"/>
            <a:ext cx="328087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1" name="Seta"/>
          <p:cNvSpPr/>
          <p:nvPr/>
        </p:nvSpPr>
        <p:spPr>
          <a:xfrm>
            <a:off x="8373709" y="4418838"/>
            <a:ext cx="328087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2" name="Seta"/>
          <p:cNvSpPr/>
          <p:nvPr/>
        </p:nvSpPr>
        <p:spPr>
          <a:xfrm>
            <a:off x="8373709" y="5491429"/>
            <a:ext cx="328087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O caminho do edital ao projeto</a:t>
            </a:r>
            <a:endParaRPr lang="en-US" sz="3400" dirty="0"/>
          </a:p>
        </p:txBody>
      </p:sp>
      <p:sp>
        <p:nvSpPr>
          <p:cNvPr id="3" name="Passo 1"/>
          <p:cNvSpPr/>
          <p:nvPr/>
        </p:nvSpPr>
        <p:spPr>
          <a:xfrm>
            <a:off x="640080" y="1645920"/>
            <a:ext cx="1828800" cy="301752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Busca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Varredura semanal nos cinco portais.</a:t>
            </a:r>
            <a:endParaRPr lang="en-US" sz="1600" dirty="0"/>
          </a:p>
        </p:txBody>
      </p:sp>
      <p:sp>
        <p:nvSpPr>
          <p:cNvPr id="7" name="Seta"/>
          <p:cNvSpPr/>
          <p:nvPr/>
        </p:nvSpPr>
        <p:spPr>
          <a:xfrm>
            <a:off x="2532888" y="3154680"/>
            <a:ext cx="26060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Passo 2"/>
          <p:cNvSpPr/>
          <p:nvPr/>
        </p:nvSpPr>
        <p:spPr>
          <a:xfrm>
            <a:off x="2857500" y="1645920"/>
            <a:ext cx="1828800" cy="301752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466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99466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Triagem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994660" y="265176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Filtros e Jev decidem o que vale analisar.</a:t>
            </a:r>
            <a:endParaRPr lang="en-US" sz="1600" dirty="0"/>
          </a:p>
        </p:txBody>
      </p:sp>
      <p:sp>
        <p:nvSpPr>
          <p:cNvPr id="12" name="Seta"/>
          <p:cNvSpPr/>
          <p:nvPr/>
        </p:nvSpPr>
        <p:spPr>
          <a:xfrm>
            <a:off x="4750308" y="3154680"/>
            <a:ext cx="26060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Passo 3"/>
          <p:cNvSpPr/>
          <p:nvPr/>
        </p:nvSpPr>
        <p:spPr>
          <a:xfrm>
            <a:off x="5074920" y="1645920"/>
            <a:ext cx="1828800" cy="301752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Análise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65176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PDF é lido e a IA extrai critérios, prazos e valores.</a:t>
            </a:r>
            <a:endParaRPr lang="en-US" sz="1600" dirty="0"/>
          </a:p>
        </p:txBody>
      </p:sp>
      <p:sp>
        <p:nvSpPr>
          <p:cNvPr id="17" name="Seta"/>
          <p:cNvSpPr/>
          <p:nvPr/>
        </p:nvSpPr>
        <p:spPr>
          <a:xfrm>
            <a:off x="6967728" y="3154680"/>
            <a:ext cx="26060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Passo 4"/>
          <p:cNvSpPr/>
          <p:nvPr/>
        </p:nvSpPr>
        <p:spPr>
          <a:xfrm>
            <a:off x="7292340" y="1645920"/>
            <a:ext cx="1828800" cy="301752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2950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2950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Geração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29500" y="265176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partir do esboço, o gpt-5.6-luna escreve cada seção no nicho do projeto.</a:t>
            </a:r>
            <a:endParaRPr lang="en-US" sz="1600" dirty="0"/>
          </a:p>
        </p:txBody>
      </p:sp>
      <p:sp>
        <p:nvSpPr>
          <p:cNvPr id="22" name="Seta"/>
          <p:cNvSpPr/>
          <p:nvPr/>
        </p:nvSpPr>
        <p:spPr>
          <a:xfrm>
            <a:off x="9185148" y="3154680"/>
            <a:ext cx="26060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Passo 5"/>
          <p:cNvSpPr/>
          <p:nvPr/>
        </p:nvSpPr>
        <p:spPr>
          <a:xfrm>
            <a:off x="9509760" y="1645920"/>
            <a:ext cx="1828800" cy="301752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4692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64692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Revisão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65176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Conferência contra o edital, ajustes no editor e exportação em PDF ou DOCX.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Hoje: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 etapas 1 a 3 rodam em segundo plano na varredura semanal. As etapas 4 e 5 respondem ao usuário na hora, dentro da requisição.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O que já está bom na base</a:t>
            </a:r>
            <a:endParaRPr lang="en-US" sz="3400" dirty="0"/>
          </a:p>
        </p:txBody>
      </p:sp>
      <p:sp>
        <p:nvSpPr>
          <p:cNvPr id="3" name="Ponto forte 1"/>
          <p:cNvSpPr/>
          <p:nvPr/>
        </p:nvSpPr>
        <p:spPr>
          <a:xfrm>
            <a:off x="640080" y="1600200"/>
            <a:ext cx="5318608" cy="1874520"/>
          </a:xfrm>
          <a:prstGeom prst="roundRect">
            <a:avLst>
              <a:gd name="adj" fmla="val 3902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Camadas separadas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Repositórios, serviços e respostas de API padronizadas. Cada mudança toca poucos arquivos.</a:t>
            </a:r>
            <a:endParaRPr lang="en-US" sz="1800" dirty="0"/>
          </a:p>
        </p:txBody>
      </p:sp>
      <p:sp>
        <p:nvSpPr>
          <p:cNvPr id="6" name="Ponto forte 2"/>
          <p:cNvSpPr/>
          <p:nvPr/>
        </p:nvSpPr>
        <p:spPr>
          <a:xfrm>
            <a:off x="6233008" y="1600200"/>
            <a:ext cx="5318608" cy="1874520"/>
          </a:xfrm>
          <a:prstGeom prst="roundRect">
            <a:avLst>
              <a:gd name="adj" fmla="val 3902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07328" y="1783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Banco em PostgreSQL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07328" y="2331720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Migrado e em produção, com Drizzle ORM e migrações versionadas.</a:t>
            </a:r>
            <a:endParaRPr lang="en-US" sz="1800" dirty="0"/>
          </a:p>
        </p:txBody>
      </p:sp>
      <p:sp>
        <p:nvSpPr>
          <p:cNvPr id="9" name="Ponto forte 3"/>
          <p:cNvSpPr/>
          <p:nvPr/>
        </p:nvSpPr>
        <p:spPr>
          <a:xfrm>
            <a:off x="640080" y="3749040"/>
            <a:ext cx="5318608" cy="1874520"/>
          </a:xfrm>
          <a:prstGeom prst="roundRect">
            <a:avLst>
              <a:gd name="adj" fmla="val 3902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319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Qualidade automatizada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80560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405 testes e um CI que roda verificação de tipos, lint, testes e build a cada envio.</a:t>
            </a:r>
            <a:endParaRPr lang="en-US" sz="1800" dirty="0"/>
          </a:p>
        </p:txBody>
      </p:sp>
      <p:sp>
        <p:nvSpPr>
          <p:cNvPr id="12" name="Ponto forte 4"/>
          <p:cNvSpPr/>
          <p:nvPr/>
        </p:nvSpPr>
        <p:spPr>
          <a:xfrm>
            <a:off x="6233008" y="3749040"/>
            <a:ext cx="5318608" cy="1874520"/>
          </a:xfrm>
          <a:prstGeom prst="roundRect">
            <a:avLst>
              <a:gd name="adj" fmla="val 3902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9319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Segurança básica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4480560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Sessão assinada, segredo obrigatório em produção e token de varredura com comparação segura.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Onde pode travar (1 de 2)</a:t>
            </a:r>
            <a:endParaRPr lang="en-US" sz="3400" dirty="0"/>
          </a:p>
        </p:txBody>
      </p:sp>
      <p:graphicFrame>
        <p:nvGraphicFramePr>
          <p:cNvPr id="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1153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  <a:gridCol w="350489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 que acontece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Correção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 Varredura no processo web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Divide CPU e memória com os usuários e troca o console global durante a execução.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Worker separado com fila no Postgres.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 Job preso como “rodando”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Se o serviço reinicia no meio, toda varredura nova recebe erro 409.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Heartbeat e recuperação de job órfão.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 Estado em memória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Progresso, logs ao vivo e caches divergem com mais de uma instância.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Mover para o banco.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4. PDFs no disco local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Somem a cada deploy sem volume e impedem várias instâncias.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Armazenamento de objetos.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5. Geração síncrona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Cerca de 1 minuto por requisição, sem retomada se falhar.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Tarefa assíncrona com consulta de andamento.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Onde pode travar (2 de 2)</a:t>
            </a:r>
            <a:endParaRPr lang="en-US" sz="3400" dirty="0"/>
          </a:p>
        </p:txBody>
      </p:sp>
      <p:graphicFrame>
        <p:nvGraphicFramePr>
          <p:cNvPr id="8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1153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  <a:gridCol w="350489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 que acontece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Correção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6. IA sem controle de vazão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Sem fila nem limite global; o erro 429 é tratado só em dois pontos.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Limitador único com retry e custo registrado.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 Banco sem limites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Pool sem configuração, listagens quase sem paginação e dois modos (SQLite e Postgres).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Pool, paginação e índices; só Postgres em produção.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8. Build sem checagem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Erros de tipo e de lint são ignorados no build; hoje há 3 erros de TypeScript.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Corrigir e reativar as checagens.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9. Sem limite nem métricas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Login sem limite de tentativas e nenhum painel de erros ou custo de IA.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Rate limit e observabilidade.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10. Arquivos grandes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Páginas de 878 linhas, exportação de 768 e DDL de 700.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Dividir por responsabilidade.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Lista de melhorias, em três fases</a:t>
            </a:r>
            <a:endParaRPr lang="en-US" sz="3400" dirty="0"/>
          </a:p>
        </p:txBody>
      </p:sp>
      <p:sp>
        <p:nvSpPr>
          <p:cNvPr id="3" name="Fase 1"/>
          <p:cNvSpPr/>
          <p:nvPr/>
        </p:nvSpPr>
        <p:spPr>
          <a:xfrm>
            <a:off x="640080" y="1600200"/>
            <a:ext cx="3484778" cy="4480560"/>
          </a:xfrm>
          <a:prstGeom prst="roundRect">
            <a:avLst>
              <a:gd name="adj" fmla="val 2099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FASE 1 · CERCA DE 1 SEMANA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Estabilizar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302757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Heartbeat e recuperação de job órfão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Pool do Postgres configurado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Paginação e índices nas listagens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Corrigir tipos e reativar as checagens do build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Rate limit no login e nas rotas de IA</a:t>
            </a:r>
            <a:endParaRPr lang="en-US" sz="1700" dirty="0"/>
          </a:p>
        </p:txBody>
      </p:sp>
      <p:sp>
        <p:nvSpPr>
          <p:cNvPr id="7" name="Fase 2"/>
          <p:cNvSpPr/>
          <p:nvPr/>
        </p:nvSpPr>
        <p:spPr>
          <a:xfrm>
            <a:off x="4353458" y="1600200"/>
            <a:ext cx="3484778" cy="4480560"/>
          </a:xfrm>
          <a:prstGeom prst="roundRect">
            <a:avLst>
              <a:gd name="adj" fmla="val 2099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2058" y="173736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FASE 2 · 2 A 3 SEMANAS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1031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Separar a carga pesada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743200"/>
            <a:ext cx="302757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Worker separado com fila no Postgres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Progresso e logs no banco, não na memória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Geração de projeto assíncrona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Limitador único de chamadas à OpenAI</a:t>
            </a:r>
            <a:endParaRPr lang="en-US" sz="1700" dirty="0"/>
          </a:p>
        </p:txBody>
      </p:sp>
      <p:sp>
        <p:nvSpPr>
          <p:cNvPr id="11" name="Fase 3"/>
          <p:cNvSpPr/>
          <p:nvPr/>
        </p:nvSpPr>
        <p:spPr>
          <a:xfrm>
            <a:off x="8066837" y="1600200"/>
            <a:ext cx="3484778" cy="4480560"/>
          </a:xfrm>
          <a:prstGeom prst="roundRect">
            <a:avLst>
              <a:gd name="adj" fmla="val 2099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5437" y="173736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FASE 3 · CONFORME O USO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95437" y="21031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Escalar na horizontal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95437" y="2743200"/>
            <a:ext cx="302757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PDFs em armazenamento de objetos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Só PostgreSQL em produção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Métricas, logs estruturados e alertas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Dividir os arquivos grandes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Como resolver as duas travas mais urgentes</a:t>
            </a:r>
            <a:endParaRPr lang="en-US" sz="3400" dirty="0"/>
          </a:p>
        </p:txBody>
      </p:sp>
      <p:sp>
        <p:nvSpPr>
          <p:cNvPr id="3" name="Job preso como “rodando”"/>
          <p:cNvSpPr/>
          <p:nvPr/>
        </p:nvSpPr>
        <p:spPr>
          <a:xfrm>
            <a:off x="640080" y="1600200"/>
            <a:ext cx="5318608" cy="3931920"/>
          </a:xfrm>
          <a:prstGeom prst="roundRect">
            <a:avLst>
              <a:gd name="adj" fmla="val 1860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Job preso como “rodando”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47699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1. Heartbeat.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O job grava o horário a cada 30 segundos e a cada edital processado.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2. Vivo só quem bateu.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Conta como em execução quem registrou atividade nos últimos 5 minutos.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3. Recuperação.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No início de cada varredura e na subida do sistema, jobs sem batida viram erro “interrompido”, num único UPDATE condicional.</a:t>
            </a:r>
            <a:endParaRPr lang="en-US" sz="1800" dirty="0"/>
          </a:p>
        </p:txBody>
      </p:sp>
      <p:sp>
        <p:nvSpPr>
          <p:cNvPr id="6" name="Varredura no processo web"/>
          <p:cNvSpPr/>
          <p:nvPr/>
        </p:nvSpPr>
        <p:spPr>
          <a:xfrm>
            <a:off x="6233008" y="1600200"/>
            <a:ext cx="5318608" cy="3931920"/>
          </a:xfrm>
          <a:prstGeom prst="roundRect">
            <a:avLst>
              <a:gd name="adj" fmla="val 1860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07328" y="17830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Varredura no processo web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07328" y="2377440"/>
            <a:ext cx="47699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Passo A, já.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Tirar a troca do console global, passar o logger explicitamente e limitar a concorrência de downloads e análises.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Passo B, definitivo.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A rota só enfileira o job e responde 202. Um worker no Railway pega os jobs com FOR UPDATE SKIP LOCKED, e o cron semanal passa a viver nele.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Ordem: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job preso, depois passo A, depois passo 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Arquitetura-alvo para crescer</a:t>
            </a:r>
            <a:endParaRPr lang="en-US" sz="3400" dirty="0"/>
          </a:p>
        </p:txBody>
      </p:sp>
      <p:sp>
        <p:nvSpPr>
          <p:cNvPr id="3" name="Usuários"/>
          <p:cNvSpPr txBox="1"/>
          <p:nvPr/>
        </p:nvSpPr>
        <p:spPr>
          <a:xfrm>
            <a:off x="777240" y="1989734"/>
            <a:ext cx="1640434" cy="1009498"/>
          </a:xfrm>
          <a:prstGeom prst="roundRect">
            <a:avLst>
              <a:gd name="adj" fmla="val 7246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Usuários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navegador e scripts</a:t>
            </a:r>
            <a:endParaRPr lang="en-US" sz="1500" dirty="0"/>
          </a:p>
        </p:txBody>
      </p:sp>
      <p:sp>
        <p:nvSpPr>
          <p:cNvPr id="4" name="Web e API"/>
          <p:cNvSpPr txBox="1"/>
          <p:nvPr/>
        </p:nvSpPr>
        <p:spPr>
          <a:xfrm>
            <a:off x="2922422" y="1989734"/>
            <a:ext cx="2018995" cy="1009498"/>
          </a:xfrm>
          <a:prstGeom prst="roundRect">
            <a:avLst>
              <a:gd name="adj" fmla="val 7246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Web e API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Next.js, várias instâncias sem estado</a:t>
            </a:r>
            <a:endParaRPr lang="en-US" sz="1500" dirty="0"/>
          </a:p>
        </p:txBody>
      </p:sp>
      <p:sp>
        <p:nvSpPr>
          <p:cNvPr id="5" name="Fila de jobs"/>
          <p:cNvSpPr txBox="1"/>
          <p:nvPr/>
        </p:nvSpPr>
        <p:spPr>
          <a:xfrm>
            <a:off x="2922422" y="3503981"/>
            <a:ext cx="2018995" cy="1009498"/>
          </a:xfrm>
          <a:prstGeom prst="roundRect">
            <a:avLst>
              <a:gd name="adj" fmla="val 7246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Fila de jobs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tabela no PostgreSQL</a:t>
            </a:r>
            <a:endParaRPr lang="en-US" sz="1500" dirty="0"/>
          </a:p>
        </p:txBody>
      </p:sp>
      <p:sp>
        <p:nvSpPr>
          <p:cNvPr id="6" name="Workers"/>
          <p:cNvSpPr txBox="1"/>
          <p:nvPr/>
        </p:nvSpPr>
        <p:spPr>
          <a:xfrm>
            <a:off x="5572354" y="3503981"/>
            <a:ext cx="2018995" cy="1009498"/>
          </a:xfrm>
          <a:prstGeom prst="roundRect">
            <a:avLst>
              <a:gd name="adj" fmla="val 7246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Workers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varredura, IA e exportação, várias instâncias</a:t>
            </a:r>
            <a:endParaRPr lang="en-US" sz="1500" dirty="0"/>
          </a:p>
        </p:txBody>
      </p:sp>
      <p:sp>
        <p:nvSpPr>
          <p:cNvPr id="7" name="Serviços compartilhados"/>
          <p:cNvSpPr/>
          <p:nvPr/>
        </p:nvSpPr>
        <p:spPr>
          <a:xfrm>
            <a:off x="8222285" y="1737360"/>
            <a:ext cx="3053730" cy="3028493"/>
          </a:xfrm>
          <a:prstGeom prst="roundRect">
            <a:avLst>
              <a:gd name="adj" fmla="val 4529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24184" y="1825691"/>
            <a:ext cx="26499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Serviços compartilhados</a:t>
            </a:r>
            <a:endParaRPr lang="en-US" sz="1600" dirty="0"/>
          </a:p>
        </p:txBody>
      </p:sp>
      <p:sp>
        <p:nvSpPr>
          <p:cNvPr id="9" name="PostgreSQL"/>
          <p:cNvSpPr txBox="1"/>
          <p:nvPr/>
        </p:nvSpPr>
        <p:spPr>
          <a:xfrm>
            <a:off x="8424184" y="2141159"/>
            <a:ext cx="2649931" cy="744504"/>
          </a:xfrm>
          <a:prstGeom prst="roundRect">
            <a:avLst>
              <a:gd name="adj" fmla="val 9826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pool de conexões e réplica de leitura</a:t>
            </a:r>
            <a:endParaRPr lang="en-US" sz="1500" dirty="0"/>
          </a:p>
        </p:txBody>
      </p:sp>
      <p:sp>
        <p:nvSpPr>
          <p:cNvPr id="10" name="Objetos"/>
          <p:cNvSpPr txBox="1"/>
          <p:nvPr/>
        </p:nvSpPr>
        <p:spPr>
          <a:xfrm>
            <a:off x="8424184" y="2986613"/>
            <a:ext cx="2649931" cy="744504"/>
          </a:xfrm>
          <a:prstGeom prst="roundRect">
            <a:avLst>
              <a:gd name="adj" fmla="val 9826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Armazenamento de objetos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PDFs e arquivos exportados</a:t>
            </a:r>
            <a:endParaRPr lang="en-US" sz="1500" dirty="0"/>
          </a:p>
        </p:txBody>
      </p:sp>
      <p:sp>
        <p:nvSpPr>
          <p:cNvPr id="11" name="Limitador de IA"/>
          <p:cNvSpPr txBox="1"/>
          <p:nvPr/>
        </p:nvSpPr>
        <p:spPr>
          <a:xfrm>
            <a:off x="8424184" y="3832068"/>
            <a:ext cx="2649931" cy="744504"/>
          </a:xfrm>
          <a:prstGeom prst="roundRect">
            <a:avLst>
              <a:gd name="adj" fmla="val 9826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63500" tIns="114300" rIns="114300" bIns="63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Limitador de IA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retry, cache e custo, antes da OpenAI e do Jev</a:t>
            </a:r>
            <a:endParaRPr lang="en-US" sz="1500" dirty="0"/>
          </a:p>
        </p:txBody>
      </p:sp>
      <p:sp>
        <p:nvSpPr>
          <p:cNvPr id="12" name="Observabilidade"/>
          <p:cNvSpPr txBox="1"/>
          <p:nvPr/>
        </p:nvSpPr>
        <p:spPr>
          <a:xfrm>
            <a:off x="777240" y="5270602"/>
            <a:ext cx="10498775" cy="694030"/>
          </a:xfrm>
          <a:prstGeom prst="roundRect">
            <a:avLst>
              <a:gd name="adj" fmla="val 10540"/>
            </a:avLst>
          </a:prstGeom>
          <a:solidFill>
            <a:schemeClr val="tx1"/>
          </a:solidFill>
          <a:ln/>
        </p:spPr>
        <p:txBody>
          <a:bodyPr wrap="square" lIns="1270" tIns="3175" rIns="3175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Observabilidade em tudo: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logs estruturados, métricas, alertas e custo de IA por projeto.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93792" y="2216871"/>
            <a:ext cx="2776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lê e grava no mesmo banco</a:t>
            </a:r>
            <a:endParaRPr lang="en-US" sz="1200" dirty="0"/>
          </a:p>
        </p:txBody>
      </p:sp>
      <p:sp>
        <p:nvSpPr>
          <p:cNvPr id="14" name="Seta"/>
          <p:cNvSpPr/>
          <p:nvPr/>
        </p:nvSpPr>
        <p:spPr>
          <a:xfrm>
            <a:off x="2442911" y="2494483"/>
            <a:ext cx="45427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Seta"/>
          <p:cNvSpPr/>
          <p:nvPr/>
        </p:nvSpPr>
        <p:spPr>
          <a:xfrm>
            <a:off x="3931920" y="3024469"/>
            <a:ext cx="0" cy="454274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Seta"/>
          <p:cNvSpPr/>
          <p:nvPr/>
        </p:nvSpPr>
        <p:spPr>
          <a:xfrm>
            <a:off x="4966655" y="4008730"/>
            <a:ext cx="580461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eta"/>
          <p:cNvSpPr/>
          <p:nvPr/>
        </p:nvSpPr>
        <p:spPr>
          <a:xfrm>
            <a:off x="7616586" y="4008730"/>
            <a:ext cx="580461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8" name="Seta"/>
          <p:cNvSpPr/>
          <p:nvPr/>
        </p:nvSpPr>
        <p:spPr>
          <a:xfrm>
            <a:off x="4966655" y="2494483"/>
            <a:ext cx="32303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Modelo para projetos futuros: seis princípios</a:t>
            </a:r>
            <a:endParaRPr lang="en-US" sz="3400" dirty="0"/>
          </a:p>
        </p:txBody>
      </p:sp>
      <p:sp>
        <p:nvSpPr>
          <p:cNvPr id="3" name="Princípio 1"/>
          <p:cNvSpPr/>
          <p:nvPr/>
        </p:nvSpPr>
        <p:spPr>
          <a:xfrm>
            <a:off x="640080" y="1600200"/>
            <a:ext cx="3484778" cy="2148840"/>
          </a:xfrm>
          <a:prstGeom prst="roundRect">
            <a:avLst>
              <a:gd name="adj" fmla="val 3404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1. Web sem estado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Qualquer instância atende qualquer requisição. O estado fica no banco.</a:t>
            </a:r>
            <a:endParaRPr lang="en-US" sz="1700" dirty="0"/>
          </a:p>
        </p:txBody>
      </p:sp>
      <p:sp>
        <p:nvSpPr>
          <p:cNvPr id="6" name="Princípio 2"/>
          <p:cNvSpPr/>
          <p:nvPr/>
        </p:nvSpPr>
        <p:spPr>
          <a:xfrm>
            <a:off x="4353458" y="1600200"/>
            <a:ext cx="3484778" cy="2148840"/>
          </a:xfrm>
          <a:prstGeom prst="roundRect">
            <a:avLst>
              <a:gd name="adj" fmla="val 3404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2058" y="17830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2. Trabalho pesado em fila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233172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Varredura, IA e exportação rodam em workers, nunca dentro da requisição.</a:t>
            </a:r>
            <a:endParaRPr lang="en-US" sz="1700" dirty="0"/>
          </a:p>
        </p:txBody>
      </p:sp>
      <p:sp>
        <p:nvSpPr>
          <p:cNvPr id="9" name="Princípio 3"/>
          <p:cNvSpPr/>
          <p:nvPr/>
        </p:nvSpPr>
        <p:spPr>
          <a:xfrm>
            <a:off x="8066837" y="1600200"/>
            <a:ext cx="3484778" cy="2148840"/>
          </a:xfrm>
          <a:prstGeom prst="roundRect">
            <a:avLst>
              <a:gd name="adj" fmla="val 3404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5437" y="17830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3. Arquivos fora do disco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95437" y="233172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PDFs e exportações vão para armazenamento de objetos.</a:t>
            </a:r>
            <a:endParaRPr lang="en-US" sz="1700" dirty="0"/>
          </a:p>
        </p:txBody>
      </p:sp>
      <p:sp>
        <p:nvSpPr>
          <p:cNvPr id="12" name="Princípio 4"/>
          <p:cNvSpPr/>
          <p:nvPr/>
        </p:nvSpPr>
        <p:spPr>
          <a:xfrm>
            <a:off x="640080" y="3977640"/>
            <a:ext cx="3484778" cy="2148840"/>
          </a:xfrm>
          <a:prstGeom prst="roundRect">
            <a:avLst>
              <a:gd name="adj" fmla="val 3404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605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4. Banco preparado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0916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Pool dimensionado, paginação obrigatória, índices e réplica de leitura quando preciso.</a:t>
            </a:r>
            <a:endParaRPr lang="en-US" sz="1700" dirty="0"/>
          </a:p>
        </p:txBody>
      </p:sp>
      <p:sp>
        <p:nvSpPr>
          <p:cNvPr id="15" name="Princípio 5"/>
          <p:cNvSpPr/>
          <p:nvPr/>
        </p:nvSpPr>
        <p:spPr>
          <a:xfrm>
            <a:off x="4353458" y="3977640"/>
            <a:ext cx="3484778" cy="2148840"/>
          </a:xfrm>
          <a:prstGeom prst="roundRect">
            <a:avLst>
              <a:gd name="adj" fmla="val 3404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82058" y="41605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5. IA com freio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82058" y="470916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Limitador global, retry com espera, cache e custo registrado por projeto.</a:t>
            </a:r>
            <a:endParaRPr lang="en-US" sz="1700" dirty="0"/>
          </a:p>
        </p:txBody>
      </p:sp>
      <p:sp>
        <p:nvSpPr>
          <p:cNvPr id="18" name="Princípio 6"/>
          <p:cNvSpPr/>
          <p:nvPr/>
        </p:nvSpPr>
        <p:spPr>
          <a:xfrm>
            <a:off x="8066837" y="3977640"/>
            <a:ext cx="3484778" cy="2148840"/>
          </a:xfrm>
          <a:prstGeom prst="roundRect">
            <a:avLst>
              <a:gd name="adj" fmla="val 3404"/>
            </a:avLst>
          </a:prstGeom>
          <a:solidFill>
            <a:schemeClr val="accent4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5437" y="41605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6. Observável desde o início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95437" y="470916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Logs estruturados, métricas e alertas antes de crescer, não depois.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Quando investir em cada fase</a:t>
            </a:r>
            <a:endParaRPr lang="en-US" sz="3400" dirty="0"/>
          </a:p>
        </p:txBody>
      </p:sp>
      <p:graphicFrame>
        <p:nvGraphicFramePr>
          <p:cNvPr id="13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529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Faixa de uso (estimativa)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 que fazer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Até cerca de 20 usuários simultâneos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 fase 1 basta. Os riscos reais são o job preso e o build sem checagem.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Mais de 50 usuários ou varreduras diárias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Fase 2: worker e fila de IA deixam de ser opcionais.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Mais de uma instância web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Fase 3 obrigatória: estado fora da memória e PDFs fora do disco.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480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Faixas estimadas pela leitura do código. Confirmar com um teste de carga antes de decidir.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Por onde começar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6916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Corrigir o job preso: heartbeat e recuperação de órfão.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56032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Configurar o pool do banco, paginar as listagens e criar índices.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4290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Reativar as checagens do build e corrigir os erros de tipo.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4297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Fazer um teste de carga para decidir quando começar a fase 2.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3949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São mudanças pequenas, testáveis e sem migração de banco.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ta+ Arquitetura">
  <a:themeElements>
    <a:clrScheme name="Capta+ Arquitetura">
      <a:dk1>
        <a:srgbClr val="14212B"/>
      </a:dk1>
      <a:lt1>
        <a:srgbClr val="F5F2EA"/>
      </a:lt1>
      <a:dk2>
        <a:srgbClr val="4A5A66"/>
      </a:dk2>
      <a:lt2>
        <a:srgbClr val="E9E4D8"/>
      </a:lt2>
      <a:accent1>
        <a:srgbClr val="1F7A6E"/>
      </a:accent1>
      <a:accent2>
        <a:srgbClr val="B24A12"/>
      </a:accent2>
      <a:accent3>
        <a:srgbClr val="F2A25C"/>
      </a:accent3>
      <a:accent4>
        <a:srgbClr val="FBFAF6"/>
      </a:accent4>
      <a:accent5>
        <a:srgbClr val="D9D3C3"/>
      </a:accent5>
      <a:accent6>
        <a:srgbClr val="B9C4CC"/>
      </a:accent6>
      <a:hlink>
        <a:srgbClr val="1F7A6E"/>
      </a:hlink>
      <a:folHlink>
        <a:srgbClr val="4A5A66"/>
      </a:folHlink>
    </a:clrScheme>
    <a:fontScheme name="Capta+ Arquitetu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Capta+ em Produção: Arquitetura e Escala</dc:title>
  <dc:subject>PptxGenJS Presentation</dc:subject>
  <dc:creator>Capta+ Cultura</dc:creator>
  <cp:lastModifiedBy>Capta+ Cultura</cp:lastModifiedBy>
  <cp:revision>1</cp:revision>
  <dcterms:created xsi:type="dcterms:W3CDTF">2026-10-21T22:33:58Z</dcterms:created>
  <dcterms:modified xsi:type="dcterms:W3CDTF">2026-10-21T22:33:58Z</dcterms:modified>
</cp:coreProperties>
</file>